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con una frase clara: AuthCares convierte datos del reloj en informacion util para cuidar mejor.</a:t>
            </a:r>
          </a:p>
          <a:p>
            <a:r>
              <a:t>Presentarse y decir que la demo mostrara el flujo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Contar una historia sencilla de una mama o cuidador que necesita saber que paso durante el dia.</a:t>
            </a:r>
          </a:p>
          <a:p>
            <a:r>
              <a:t>Evitar sonar medico o alarmista.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Decir la frase completa sin entrar a codigo.</a:t>
            </a:r>
          </a:p>
          <a:p>
            <a:r>
              <a:t>Luego explicar los 3 pasos: reloj, app, cuidador.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la demo ir directo: abrir app, mostrar monitoreo, estadisticas, alerta o IA.</a:t>
            </a:r>
          </a:p>
          <a:p>
            <a:r>
              <a:t>Si no carga, usar video de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la IA ayuda a entender y orientar.</a:t>
            </a:r>
          </a:p>
          <a:p>
            <a:r>
              <a:t>Importante: no diagnostica ni reemplaza a especialistas.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Ser honestos: el aprendizaje principal fue construir un producto conectado.</a:t>
            </a:r>
          </a:p>
          <a:p>
            <a:r>
              <a:t>No presentar AuthCares como pantallas aisladas, sino como un flujo de cuidado.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con la frase final: AuthCares convierte datos en cuidado.</a:t>
            </a:r>
          </a:p>
          <a:p>
            <a:r>
              <a:t>Agradecer y dejar abierto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22F7606F-1893-41E5-A08C-C9EC7D0165A2}"/>
              </a:ext>
            </a:extLst>
          </p:cNvPr>
          <p:cNvSpPr>
            <a:spLocks noGrp="1"/>
          </p:cNvSpPr>
          <p:nvPr/>
        </p:nvSpPr>
        <p:spPr>
          <a:xfrm>
            <a:off x="9353550" y="-1428750"/>
            <a:ext cx="4095750" cy="4095750"/>
          </a:xfrm>
          <a:prstGeom prst="ellipse">
            <a:avLst/>
          </a:prstGeom>
          <a:solidFill>
            <a:srgbClr val="30245F"/>
          </a:solidFill>
          <a:ln w="0">
            <a:noFill/>
            <a:prstDash val="solid"/>
          </a:ln>
        </p:spPr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DE838C2-A7AB-462F-904F-C31F0D1F831A}"/>
              </a:ext>
            </a:extLst>
          </p:cNvPr>
          <p:cNvSpPr>
            <a:spLocks noGrp="1"/>
          </p:cNvSpPr>
          <p:nvPr/>
        </p:nvSpPr>
        <p:spPr>
          <a:xfrm>
            <a:off x="-1333500" y="5048250"/>
            <a:ext cx="3143250" cy="3143250"/>
          </a:xfrm>
          <a:prstGeom prst="ellipse">
            <a:avLst/>
          </a:prstGeom>
          <a:solidFill>
            <a:srgbClr val="2B2456"/>
          </a:solidFill>
          <a:ln w="0">
            <a:noFill/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BEFD2C8-0D61-4092-9132-D5E34BF471B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790950" cy="45720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525">
            <a:solidFill>
              <a:srgbClr val="9F7AEA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798156-627D-43EA-809B-45348C96167D}"/>
              </a:ext>
            </a:extLst>
          </p:cNvPr>
          <p:cNvSpPr>
            <a:spLocks noGrp="1"/>
          </p:cNvSpPr>
          <p:nvPr/>
        </p:nvSpPr>
        <p:spPr>
          <a:xfrm>
            <a:off x="781050" y="5524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7CCFF"/>
                </a:solidFill>
              </a:defRPr>
            </a:pPr>
            <a:r>
              <a:rPr sz="975" b="1">
                <a:solidFill>
                  <a:srgbClr val="D7CCFF"/>
                </a:solidFill>
              </a:rPr>
              <a:t>PROG. MOVILES 2026  Â·  TECSUP AREQUIPA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8A1FA46-3F91-4EE5-B939-A3DE7B66169B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AuthCares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01135D-6D40-471F-A21B-4ABB892F8341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i="1">
                <a:solidFill>
                  <a:srgbClr val="C9B9FF"/>
                </a:solidFill>
              </a:defRPr>
            </a:pPr>
            <a:r>
              <a:rPr sz="2175" i="1">
                <a:solidFill>
                  <a:srgbClr val="C9B9FF"/>
                </a:solidFill>
              </a:rPr>
              <a:t>Monitoreo inteligente para acompaÃ±ar a niÃ±os con TEA en tiempo real.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B565409-2E01-46FA-9060-05366852AD2A}"/>
              </a:ext>
            </a:extLst>
          </p:cNvPr>
          <p:cNvSpPr>
            <a:spLocks noGrp="1"/>
          </p:cNvSpPr>
          <p:nvPr/>
        </p:nvSpPr>
        <p:spPr>
          <a:xfrm>
            <a:off x="552450" y="3457575"/>
            <a:ext cx="7810500" cy="19050"/>
          </a:xfrm>
          <a:prstGeom prst="roundRect">
            <a:avLst>
              <a:gd name="adj" fmla="val 50000"/>
            </a:avLst>
          </a:prstGeom>
          <a:solidFill>
            <a:srgbClr val="536079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1E48145-ACCA-4F3F-BD1E-AEA0BCAA674A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CAD3E7"/>
                </a:solidFill>
              </a:defRPr>
            </a:pPr>
            <a:r>
              <a:rPr sz="1350">
                <a:solidFill>
                  <a:srgbClr val="CAD3E7"/>
                </a:solidFill>
              </a:rPr>
              <a:t>Equipo: Karla Choque  Â·  [Integrante 2]  Â·  [Integrante 3]  Â·  [Integrante 4]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86EF794-4179-499C-9B98-AD8DC4DC68E8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25B99A"/>
          </a:solidFill>
          <a:ln w="9525">
            <a:solidFill>
              <a:srgbClr val="55D0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34B5C19-2224-4911-898F-677385FA3887}"/>
              </a:ext>
            </a:extLst>
          </p:cNvPr>
          <p:cNvSpPr>
            <a:spLocks noGrp="1"/>
          </p:cNvSpPr>
          <p:nvPr/>
        </p:nvSpPr>
        <p:spPr>
          <a:xfrm>
            <a:off x="952500" y="4953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5 - 10 MINUTOS</a:t>
            </a: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39050" y="1219200"/>
            <a:ext cx="3333750" cy="3333750"/>
          </a:xfrm>
          <a:prstGeom prst="roundRect">
            <a:avLst>
              <a:gd name="adj" fmla="val 3429"/>
            </a:avLst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48ADFA2-3AB0-42C7-8EB5-1DE11A78D0DE}"/>
              </a:ext>
            </a:extLst>
          </p:cNvPr>
          <p:cNvSpPr>
            <a:spLocks noGrp="1"/>
          </p:cNvSpPr>
          <p:nvPr/>
        </p:nvSpPr>
        <p:spPr>
          <a:xfrm>
            <a:off x="8858250" y="4819650"/>
            <a:ext cx="2114550" cy="952500"/>
          </a:xfrm>
          <a:prstGeom prst="roundRect">
            <a:avLst>
              <a:gd name="adj" fmla="val 12000"/>
            </a:avLst>
          </a:prstGeom>
          <a:solidFill>
            <a:srgbClr val="20293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81F801E-B18F-49E3-8DE9-9928237AE73A}"/>
              </a:ext>
            </a:extLst>
          </p:cNvPr>
          <p:cNvSpPr>
            <a:spLocks noGrp="1"/>
          </p:cNvSpPr>
          <p:nvPr/>
        </p:nvSpPr>
        <p:spPr>
          <a:xfrm>
            <a:off x="9124950" y="51911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DDE3F0"/>
                </a:solidFill>
              </a:defRPr>
            </a:pPr>
            <a:r>
              <a:rPr sz="1350">
                <a:solidFill>
                  <a:srgbClr val="DDE3F0"/>
                </a:solidFill>
              </a:rPr>
              <a:t>QR GitHub / Demo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F24881C-FFA6-49FC-BA7A-D8E9E1A83896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9C3D8"/>
                </a:solidFill>
              </a:defRPr>
            </a:pPr>
            <a:r>
              <a:rPr sz="975" b="1">
                <a:solidFill>
                  <a:srgbClr val="B9C3D8"/>
                </a:solidFill>
              </a:rPr>
              <a:t>AuthCares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D40BD0-876C-4071-9A61-7F194E7EE6A8}"/>
              </a:ext>
            </a:extLst>
          </p:cNvPr>
          <p:cNvSpPr>
            <a:spLocks noGrp="1"/>
          </p:cNvSpPr>
          <p:nvPr/>
        </p:nvSpPr>
        <p:spPr>
          <a:xfrm>
            <a:off x="5753100" y="6477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8591AA"/>
                </a:solidFill>
              </a:defRPr>
            </a:pPr>
            <a:r>
              <a:rPr sz="975">
                <a:solidFill>
                  <a:srgbClr val="8591AA"/>
                </a:solidFill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170251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0E223D87-6A07-478E-B119-6B9E98CC7C0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A5568"/>
                </a:solidFill>
              </a:defRPr>
            </a:pPr>
            <a:r>
              <a:rPr sz="975" b="1">
                <a:solidFill>
                  <a:srgbClr val="4A5568"/>
                </a:solidFill>
              </a:rPr>
              <a:t>01 / EL PROBLEMA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F5BE5FE-F6C9-4482-B009-C64E5553ADA3}"/>
              </a:ext>
            </a:extLst>
          </p:cNvPr>
          <p:cNvSpPr>
            <a:spLocks noGrp="1"/>
          </p:cNvSpPr>
          <p:nvPr/>
        </p:nvSpPr>
        <p:spPr>
          <a:xfrm>
            <a:off x="10363200" y="171450"/>
            <a:ext cx="1181100" cy="438150"/>
          </a:xfrm>
          <a:prstGeom prst="roundRect">
            <a:avLst>
              <a:gd name="adj" fmla="val 17391"/>
            </a:avLst>
          </a:prstGeom>
          <a:solidFill>
            <a:srgbClr val="F4B942"/>
          </a:solidFill>
          <a:ln w="9525">
            <a:solidFill>
              <a:srgbClr val="E9A92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B3038FB-B0FD-497D-B338-2E3322C1BCA8}"/>
              </a:ext>
            </a:extLst>
          </p:cNvPr>
          <p:cNvSpPr>
            <a:spLocks noGrp="1"/>
          </p:cNvSpPr>
          <p:nvPr/>
        </p:nvSpPr>
        <p:spPr>
          <a:xfrm>
            <a:off x="10591800" y="2857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D2410"/>
                </a:solidFill>
              </a:defRPr>
            </a:pPr>
            <a:r>
              <a:rPr sz="1275" b="1">
                <a:solidFill>
                  <a:srgbClr val="2D2410"/>
                </a:solidFill>
              </a:rPr>
              <a:t>~1 min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FD66AB8-7762-43C0-9F0A-C948CDB9DA2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17202E"/>
                </a:solidFill>
              </a:defRPr>
            </a:pPr>
            <a:r>
              <a:rPr sz="4050" b="1">
                <a:solidFill>
                  <a:srgbClr val="17202E"/>
                </a:solidFill>
              </a:rPr>
              <a:t>Â¿A quiÃ©n le duele?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FE10D5C-E3E8-4C6B-B45C-85C0EFB8EEF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7627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7727CE-973E-4342-8988-DDD6916FDC73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2E"/>
                </a:solidFill>
              </a:defRPr>
            </a:pPr>
            <a:r>
              <a:rPr sz="1800" b="1">
                <a:solidFill>
                  <a:srgbClr val="17202E"/>
                </a:solidFill>
              </a:rPr>
              <a:t>El problema real: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68C448-C5AE-4722-B6B4-CC8630F2D736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581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495060"/>
                </a:solidFill>
              </a:defRPr>
            </a:pPr>
            <a:r>
              <a:rPr sz="1800">
                <a:solidFill>
                  <a:srgbClr val="495060"/>
                </a:solidFill>
              </a:rPr>
              <a:t>Una madre no siempre puede estar cerca de su hijo durante clases, terapia o actividades diarias. Si ocurre un cambio importante, muchas veces se entera tarde o sin datos claros.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FD74BE-AD44-4AD8-9C97-17FE52FFD4EA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581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i="1">
                <a:solidFill>
                  <a:srgbClr val="7C3AED"/>
                </a:solidFill>
              </a:defRPr>
            </a:pPr>
            <a:r>
              <a:rPr sz="1650" i="1">
                <a:solidFill>
                  <a:srgbClr val="7C3AED"/>
                </a:solidFill>
              </a:rPr>
              <a:t>No se trata de vigilar mÃ¡s. Se trata de acompaÃ±ar mejor, con calma y contexto.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E54283E-1D8C-4894-8E24-3C5481D85458}"/>
              </a:ext>
            </a:extLst>
          </p:cNvPr>
          <p:cNvSpPr>
            <a:spLocks noGrp="1"/>
          </p:cNvSpPr>
          <p:nvPr/>
        </p:nvSpPr>
        <p:spPr>
          <a:xfrm>
            <a:off x="8210550" y="1676400"/>
            <a:ext cx="3143250" cy="3143250"/>
          </a:xfrm>
          <a:prstGeom prst="ellipse">
            <a:avLst/>
          </a:prstGeom>
          <a:solidFill>
            <a:srgbClr val="EDE7FF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1B7D237-5DBE-4B2D-A9BC-98B84A0B1B6B}"/>
              </a:ext>
            </a:extLst>
          </p:cNvPr>
          <p:cNvSpPr>
            <a:spLocks noGrp="1"/>
          </p:cNvSpPr>
          <p:nvPr/>
        </p:nvSpPr>
        <p:spPr>
          <a:xfrm>
            <a:off x="9353550" y="2362200"/>
            <a:ext cx="85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400" b="1">
                <a:solidFill>
                  <a:srgbClr val="E5484D"/>
                </a:solidFill>
              </a:defRPr>
            </a:pPr>
            <a:r>
              <a:rPr sz="5400" b="1">
                <a:solidFill>
                  <a:srgbClr val="E5484D"/>
                </a:solidFill>
              </a:rPr>
              <a:t>!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050D385-28C6-4ACD-8C4A-F6AD537DD740}"/>
              </a:ext>
            </a:extLst>
          </p:cNvPr>
          <p:cNvSpPr>
            <a:spLocks noGrp="1"/>
          </p:cNvSpPr>
          <p:nvPr/>
        </p:nvSpPr>
        <p:spPr>
          <a:xfrm>
            <a:off x="8020050" y="37338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2E"/>
                </a:solidFill>
              </a:defRPr>
            </a:pPr>
            <a:r>
              <a:rPr sz="1650" b="1">
                <a:solidFill>
                  <a:srgbClr val="17202E"/>
                </a:solidFill>
              </a:rPr>
              <a:t>Distancia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1BF3995-EE3A-4D84-A01B-74E97085B062}"/>
              </a:ext>
            </a:extLst>
          </p:cNvPr>
          <p:cNvSpPr>
            <a:spLocks noGrp="1"/>
          </p:cNvSpPr>
          <p:nvPr/>
        </p:nvSpPr>
        <p:spPr>
          <a:xfrm>
            <a:off x="8020050" y="40576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>
                <a:solidFill>
                  <a:srgbClr val="667085"/>
                </a:solidFill>
              </a:defRPr>
            </a:pPr>
            <a:r>
              <a:rPr sz="1425">
                <a:solidFill>
                  <a:srgbClr val="667085"/>
                </a:solidFill>
              </a:rPr>
              <a:t>Poca informaciÃ³n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769738E-E3BB-41FF-BA02-FFACBC11D7C1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11087100" cy="514350"/>
          </a:xfrm>
          <a:prstGeom prst="roundRect">
            <a:avLst>
              <a:gd name="adj" fmla="val 11111"/>
            </a:avLst>
          </a:prstGeom>
          <a:solidFill>
            <a:srgbClr val="FFF8DB"/>
          </a:solidFill>
          <a:ln w="9525">
            <a:solidFill>
              <a:srgbClr val="F2D36D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61141B-2C94-43A2-920B-74754BD57607}"/>
              </a:ext>
            </a:extLst>
          </p:cNvPr>
          <p:cNvSpPr>
            <a:spLocks noGrp="1"/>
          </p:cNvSpPr>
          <p:nvPr/>
        </p:nvSpPr>
        <p:spPr>
          <a:xfrm>
            <a:off x="800100" y="5476875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B4B13"/>
                </a:solidFill>
              </a:defRPr>
            </a:pPr>
            <a:r>
              <a:rPr sz="1350">
                <a:solidFill>
                  <a:srgbClr val="5B4B13"/>
                </a:solidFill>
              </a:rPr>
              <a:t>TIP: empieza con esta historia antes de enseÃ±ar pantallas. El jurado debe sentir por quÃ© existe AuthCares.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3897A2D-EB93-4931-ACA8-4B5717307CA0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B8497"/>
                </a:solidFill>
              </a:defRPr>
            </a:pPr>
            <a:r>
              <a:rPr sz="975" b="1">
                <a:solidFill>
                  <a:srgbClr val="7B8497"/>
                </a:solidFill>
              </a:rPr>
              <a:t>AuthCares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BB71D5-B498-461E-BCBF-9376527A5C35}"/>
              </a:ext>
            </a:extLst>
          </p:cNvPr>
          <p:cNvSpPr>
            <a:spLocks noGrp="1"/>
          </p:cNvSpPr>
          <p:nvPr/>
        </p:nvSpPr>
        <p:spPr>
          <a:xfrm>
            <a:off x="5753100" y="6477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67361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BA0EF5C3-A556-4458-978E-61E16819A10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A5568"/>
                </a:solidFill>
              </a:defRPr>
            </a:pPr>
            <a:r>
              <a:rPr sz="975" b="1">
                <a:solidFill>
                  <a:srgbClr val="4A5568"/>
                </a:solidFill>
              </a:rPr>
              <a:t>02 / LA SOLUCION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B49EA3C-B04E-40DA-A46B-A9A0FE933522}"/>
              </a:ext>
            </a:extLst>
          </p:cNvPr>
          <p:cNvSpPr>
            <a:spLocks noGrp="1"/>
          </p:cNvSpPr>
          <p:nvPr/>
        </p:nvSpPr>
        <p:spPr>
          <a:xfrm>
            <a:off x="10363200" y="171450"/>
            <a:ext cx="1181100" cy="438150"/>
          </a:xfrm>
          <a:prstGeom prst="roundRect">
            <a:avLst>
              <a:gd name="adj" fmla="val 17391"/>
            </a:avLst>
          </a:prstGeom>
          <a:solidFill>
            <a:srgbClr val="F4B942"/>
          </a:solidFill>
          <a:ln w="9525">
            <a:solidFill>
              <a:srgbClr val="E9A92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EC9AA1-DE07-46FB-BEAA-3E975A5ED997}"/>
              </a:ext>
            </a:extLst>
          </p:cNvPr>
          <p:cNvSpPr>
            <a:spLocks noGrp="1"/>
          </p:cNvSpPr>
          <p:nvPr/>
        </p:nvSpPr>
        <p:spPr>
          <a:xfrm>
            <a:off x="10591800" y="2857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D2410"/>
                </a:solidFill>
              </a:defRPr>
            </a:pPr>
            <a:r>
              <a:rPr sz="1275" b="1">
                <a:solidFill>
                  <a:srgbClr val="2D2410"/>
                </a:solidFill>
              </a:rPr>
              <a:t>~1 min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313E44-5BA3-427C-BC94-380DA3EC392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7202E"/>
                </a:solidFill>
              </a:defRPr>
            </a:pPr>
            <a:r>
              <a:rPr sz="3750" b="1">
                <a:solidFill>
                  <a:srgbClr val="17202E"/>
                </a:solidFill>
              </a:rPr>
              <a:t>Tu app en una sola oraciÃ³n.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45744A3-3500-45AF-99B4-4BE4C2358F4F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11087100" cy="1200150"/>
          </a:xfrm>
          <a:prstGeom prst="roundRect">
            <a:avLst>
              <a:gd name="adj" fmla="val 9524"/>
            </a:avLst>
          </a:prstGeom>
          <a:solidFill>
            <a:srgbClr val="0E1527"/>
          </a:solidFill>
          <a:ln w="9525">
            <a:solidFill>
              <a:srgbClr val="20283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B6311A-E058-4C0A-89AC-1208FB4BC4FB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1043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i="1">
                <a:solidFill>
                  <a:srgbClr val="FFFFFF"/>
                </a:solidFill>
              </a:defRPr>
            </a:pPr>
            <a:r>
              <a:rPr sz="1875" i="1">
                <a:solidFill>
                  <a:srgbClr val="FFFFFF"/>
                </a:solidFill>
              </a:rPr>
              <a:t>AuthCares permite a padres y cuidadores monitorear seÃ±ales del niÃ±o desde un Galaxy Watch para actuar con mÃ¡s calma, contexto y rapidez.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29D0B99-F7D5-4E9E-9FD6-004AF71746CD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314325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7844FF9-0845-431A-AFA5-CA2821B61712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514350" cy="5143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E61A68-380F-4E59-8213-72EF80C6BFDB}"/>
              </a:ext>
            </a:extLst>
          </p:cNvPr>
          <p:cNvSpPr>
            <a:spLocks noGrp="1"/>
          </p:cNvSpPr>
          <p:nvPr/>
        </p:nvSpPr>
        <p:spPr>
          <a:xfrm>
            <a:off x="914400" y="3571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EE1CB7-3014-42C8-B2AB-0130B4F8607E}"/>
              </a:ext>
            </a:extLst>
          </p:cNvPr>
          <p:cNvSpPr>
            <a:spLocks noGrp="1"/>
          </p:cNvSpPr>
          <p:nvPr/>
        </p:nvSpPr>
        <p:spPr>
          <a:xfrm>
            <a:off x="1581150" y="350520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E"/>
                </a:solidFill>
              </a:defRPr>
            </a:pPr>
            <a:r>
              <a:rPr sz="1875" b="1">
                <a:solidFill>
                  <a:srgbClr val="17202E"/>
                </a:solidFill>
              </a:rPr>
              <a:t>1. El reloj escucha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42A92B-8297-4459-8083-BA9DCB89F816}"/>
              </a:ext>
            </a:extLst>
          </p:cNvPr>
          <p:cNvSpPr>
            <a:spLocks noGrp="1"/>
          </p:cNvSpPr>
          <p:nvPr/>
        </p:nvSpPr>
        <p:spPr>
          <a:xfrm>
            <a:off x="1581150" y="3867150"/>
            <a:ext cx="19812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Registra ritmo cardÃ­aco y movimiento durante el dÃ­a.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6CC8B8F-E7EE-4DA2-9BDD-0CD31F04E33D}"/>
              </a:ext>
            </a:extLst>
          </p:cNvPr>
          <p:cNvSpPr>
            <a:spLocks noGrp="1"/>
          </p:cNvSpPr>
          <p:nvPr/>
        </p:nvSpPr>
        <p:spPr>
          <a:xfrm>
            <a:off x="3981450" y="3905250"/>
            <a:ext cx="57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8B7AC5"/>
                </a:solidFill>
              </a:defRPr>
            </a:pPr>
            <a:r>
              <a:rPr sz="3150" b="1">
                <a:solidFill>
                  <a:srgbClr val="8B7AC5"/>
                </a:solidFill>
              </a:rPr>
              <a:t>â†’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553DBA6-54E7-4C3A-A7BF-E965B38A6722}"/>
              </a:ext>
            </a:extLst>
          </p:cNvPr>
          <p:cNvSpPr>
            <a:spLocks noGrp="1"/>
          </p:cNvSpPr>
          <p:nvPr/>
        </p:nvSpPr>
        <p:spPr>
          <a:xfrm>
            <a:off x="4533900" y="3219450"/>
            <a:ext cx="314325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7B27037-5543-4B9B-A89A-102C5528C0C5}"/>
              </a:ext>
            </a:extLst>
          </p:cNvPr>
          <p:cNvSpPr>
            <a:spLocks noGrp="1"/>
          </p:cNvSpPr>
          <p:nvPr/>
        </p:nvSpPr>
        <p:spPr>
          <a:xfrm>
            <a:off x="4781550" y="3486150"/>
            <a:ext cx="514350" cy="514350"/>
          </a:xfrm>
          <a:prstGeom prst="ellipse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CCAABD0-D53F-4616-9033-488F9FBDCBAE}"/>
              </a:ext>
            </a:extLst>
          </p:cNvPr>
          <p:cNvSpPr>
            <a:spLocks noGrp="1"/>
          </p:cNvSpPr>
          <p:nvPr/>
        </p:nvSpPr>
        <p:spPr>
          <a:xfrm>
            <a:off x="4781550" y="3571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CC5B593-AE20-41F3-88DA-4678329C57BE}"/>
              </a:ext>
            </a:extLst>
          </p:cNvPr>
          <p:cNvSpPr>
            <a:spLocks noGrp="1"/>
          </p:cNvSpPr>
          <p:nvPr/>
        </p:nvSpPr>
        <p:spPr>
          <a:xfrm>
            <a:off x="5448300" y="350520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E"/>
                </a:solidFill>
              </a:defRPr>
            </a:pPr>
            <a:r>
              <a:rPr sz="1875" b="1">
                <a:solidFill>
                  <a:srgbClr val="17202E"/>
                </a:solidFill>
              </a:rPr>
              <a:t>2. La app ordena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C44984C-AF7B-48CD-876E-18B847A4996F}"/>
              </a:ext>
            </a:extLst>
          </p:cNvPr>
          <p:cNvSpPr>
            <a:spLocks noGrp="1"/>
          </p:cNvSpPr>
          <p:nvPr/>
        </p:nvSpPr>
        <p:spPr>
          <a:xfrm>
            <a:off x="5448300" y="3867150"/>
            <a:ext cx="19812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Firebase actualiza la informaciÃ³n y la muestra clara.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DF45077-3D9D-41DC-88C7-E1E43C799379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57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8B7AC5"/>
                </a:solidFill>
              </a:defRPr>
            </a:pPr>
            <a:r>
              <a:rPr sz="3150" b="1">
                <a:solidFill>
                  <a:srgbClr val="8B7AC5"/>
                </a:solidFill>
              </a:rPr>
              <a:t>â†’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5CA96F5-CA54-4812-95F1-C76F1811D38C}"/>
              </a:ext>
            </a:extLst>
          </p:cNvPr>
          <p:cNvSpPr>
            <a:spLocks noGrp="1"/>
          </p:cNvSpPr>
          <p:nvPr/>
        </p:nvSpPr>
        <p:spPr>
          <a:xfrm>
            <a:off x="8401050" y="3219450"/>
            <a:ext cx="314325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23CFC23-EB5F-465C-8BFE-3B747FB61C1E}"/>
              </a:ext>
            </a:extLst>
          </p:cNvPr>
          <p:cNvSpPr>
            <a:spLocks noGrp="1"/>
          </p:cNvSpPr>
          <p:nvPr/>
        </p:nvSpPr>
        <p:spPr>
          <a:xfrm>
            <a:off x="8648700" y="3486150"/>
            <a:ext cx="514350" cy="5143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F3B2344-9162-4CAA-8AF8-DA93D8DACAA8}"/>
              </a:ext>
            </a:extLst>
          </p:cNvPr>
          <p:cNvSpPr>
            <a:spLocks noGrp="1"/>
          </p:cNvSpPr>
          <p:nvPr/>
        </p:nvSpPr>
        <p:spPr>
          <a:xfrm>
            <a:off x="8648700" y="3571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AF7A594-A1A3-434E-B028-DFE4DF805D70}"/>
              </a:ext>
            </a:extLst>
          </p:cNvPr>
          <p:cNvSpPr>
            <a:spLocks noGrp="1"/>
          </p:cNvSpPr>
          <p:nvPr/>
        </p:nvSpPr>
        <p:spPr>
          <a:xfrm>
            <a:off x="9315450" y="350520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E"/>
                </a:solidFill>
              </a:defRPr>
            </a:pPr>
            <a:r>
              <a:rPr sz="1875" b="1">
                <a:solidFill>
                  <a:srgbClr val="17202E"/>
                </a:solidFill>
              </a:rPr>
              <a:t>3. El cuidador actÃºa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8477EB0-AD97-4550-B3B5-4AB020DDF0A3}"/>
              </a:ext>
            </a:extLst>
          </p:cNvPr>
          <p:cNvSpPr>
            <a:spLocks noGrp="1"/>
          </p:cNvSpPr>
          <p:nvPr/>
        </p:nvSpPr>
        <p:spPr>
          <a:xfrm>
            <a:off x="9315450" y="3867150"/>
            <a:ext cx="19812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Recibe alertas, consulta IA y revisa estadÃ­sticas.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F2120E1-C8B7-4675-A2E2-CC532172F883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B8497"/>
                </a:solidFill>
              </a:defRPr>
            </a:pPr>
            <a:r>
              <a:rPr sz="975" b="1">
                <a:solidFill>
                  <a:srgbClr val="7B8497"/>
                </a:solidFill>
              </a:rPr>
              <a:t>AuthCares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F78E67E-D4C1-48A5-9F3C-2C5D587BB44D}"/>
              </a:ext>
            </a:extLst>
          </p:cNvPr>
          <p:cNvSpPr>
            <a:spLocks noGrp="1"/>
          </p:cNvSpPr>
          <p:nvPr/>
        </p:nvSpPr>
        <p:spPr>
          <a:xfrm>
            <a:off x="5753100" y="6477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93308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03A6DFD0-3761-4F64-8403-C58C1435020D}"/>
              </a:ext>
            </a:extLst>
          </p:cNvPr>
          <p:cNvSpPr>
            <a:spLocks noGrp="1"/>
          </p:cNvSpPr>
          <p:nvPr/>
        </p:nvSpPr>
        <p:spPr>
          <a:xfrm>
            <a:off x="1771650" y="228600"/>
            <a:ext cx="6096000" cy="6096000"/>
          </a:xfrm>
          <a:prstGeom prst="ellipse">
            <a:avLst/>
          </a:prstGeom>
          <a:solidFill>
            <a:srgbClr val="171B43"/>
          </a:solidFill>
          <a:ln w="0">
            <a:noFill/>
            <a:prstDash val="solid"/>
          </a:ln>
        </p:spPr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049F8E7-E530-4C29-8AD7-C4266872ED60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457450" cy="552450"/>
          </a:xfrm>
          <a:prstGeom prst="roundRect">
            <a:avLst>
              <a:gd name="adj" fmla="val 13793"/>
            </a:avLst>
          </a:prstGeom>
          <a:solidFill>
            <a:srgbClr val="25B99A"/>
          </a:solidFill>
          <a:ln w="9525">
            <a:solidFill>
              <a:srgbClr val="55D0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18065E5-4DB8-436F-9376-AA517B7B8795}"/>
              </a:ext>
            </a:extLst>
          </p:cNvPr>
          <p:cNvSpPr>
            <a:spLocks noGrp="1"/>
          </p:cNvSpPr>
          <p:nvPr/>
        </p:nvSpPr>
        <p:spPr>
          <a:xfrm>
            <a:off x="1143000" y="381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4 - 5 MIN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FE36DE-98EB-46D3-96E6-D42B07719BF1}"/>
              </a:ext>
            </a:extLst>
          </p:cNvPr>
          <p:cNvSpPr>
            <a:spLocks noGrp="1"/>
          </p:cNvSpPr>
          <p:nvPr/>
        </p:nvSpPr>
        <p:spPr>
          <a:xfrm>
            <a:off x="1257300" y="1390650"/>
            <a:ext cx="5048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700" b="1">
                <a:solidFill>
                  <a:srgbClr val="7C3AED"/>
                </a:solidFill>
              </a:defRPr>
            </a:pPr>
            <a:r>
              <a:rPr sz="8700" b="1">
                <a:solidFill>
                  <a:srgbClr val="7C3AED"/>
                </a:solidFill>
              </a:rPr>
              <a:t>DEMO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D2CF34-1E74-49EF-9DB6-3403E17BE60C}"/>
              </a:ext>
            </a:extLst>
          </p:cNvPr>
          <p:cNvSpPr>
            <a:spLocks noGrp="1"/>
          </p:cNvSpPr>
          <p:nvPr/>
        </p:nvSpPr>
        <p:spPr>
          <a:xfrm>
            <a:off x="2990850" y="35433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>
                <a:solidFill>
                  <a:srgbClr val="FFFFFF"/>
                </a:solidFill>
              </a:defRPr>
            </a:pPr>
            <a:r>
              <a:rPr sz="2550">
                <a:solidFill>
                  <a:srgbClr val="FFFFFF"/>
                </a:solidFill>
              </a:rPr>
              <a:t>EN VIVO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529F6F0-23F6-4143-A5B0-3C9C01AFB2E5}"/>
              </a:ext>
            </a:extLst>
          </p:cNvPr>
          <p:cNvSpPr>
            <a:spLocks noGrp="1"/>
          </p:cNvSpPr>
          <p:nvPr/>
        </p:nvSpPr>
        <p:spPr>
          <a:xfrm>
            <a:off x="7448550" y="171450"/>
            <a:ext cx="4095750" cy="5105400"/>
          </a:xfrm>
          <a:prstGeom prst="roundRect">
            <a:avLst>
              <a:gd name="adj" fmla="val 2791"/>
            </a:avLst>
          </a:prstGeom>
          <a:solidFill>
            <a:srgbClr val="232B3D"/>
          </a:solidFill>
          <a:ln w="9525">
            <a:solidFill>
              <a:srgbClr val="44506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0209D81-BFAC-4E37-9B1C-53A941563F4F}"/>
              </a:ext>
            </a:extLst>
          </p:cNvPr>
          <p:cNvSpPr>
            <a:spLocks noGrp="1"/>
          </p:cNvSpPr>
          <p:nvPr/>
        </p:nvSpPr>
        <p:spPr>
          <a:xfrm>
            <a:off x="8267700" y="4572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BDA7FF"/>
                </a:solidFill>
              </a:defRPr>
            </a:pPr>
            <a:r>
              <a:rPr sz="1500" b="1">
                <a:solidFill>
                  <a:srgbClr val="BDA7FF"/>
                </a:solidFill>
              </a:rPr>
              <a:t>Checklist de demo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3BEC4A5-A74B-4D5D-8C0E-292A519AC170}"/>
              </a:ext>
            </a:extLst>
          </p:cNvPr>
          <p:cNvSpPr>
            <a:spLocks noGrp="1"/>
          </p:cNvSpPr>
          <p:nvPr/>
        </p:nvSpPr>
        <p:spPr>
          <a:xfrm>
            <a:off x="7734300" y="990600"/>
            <a:ext cx="361950" cy="3619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972756B-E62F-4EA9-BFD2-16A37C39E089}"/>
              </a:ext>
            </a:extLst>
          </p:cNvPr>
          <p:cNvSpPr>
            <a:spLocks noGrp="1"/>
          </p:cNvSpPr>
          <p:nvPr/>
        </p:nvSpPr>
        <p:spPr>
          <a:xfrm>
            <a:off x="7734300" y="10572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âœ“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1754B88-40BF-4665-B11D-CF7481078B49}"/>
              </a:ext>
            </a:extLst>
          </p:cNvPr>
          <p:cNvSpPr>
            <a:spLocks noGrp="1"/>
          </p:cNvSpPr>
          <p:nvPr/>
        </p:nvSpPr>
        <p:spPr>
          <a:xfrm>
            <a:off x="8210550" y="1009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AF0F8"/>
                </a:solidFill>
              </a:defRPr>
            </a:pPr>
            <a:r>
              <a:rPr sz="1500">
                <a:solidFill>
                  <a:srgbClr val="EAF0F8"/>
                </a:solidFill>
              </a:rPr>
              <a:t>Inicio desde cero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D78C907-EEE0-40D8-AB3E-F8C8C80BA328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361950" cy="3619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19990F-D8CC-450F-8AE2-D1A404C924DF}"/>
              </a:ext>
            </a:extLst>
          </p:cNvPr>
          <p:cNvSpPr>
            <a:spLocks noGrp="1"/>
          </p:cNvSpPr>
          <p:nvPr/>
        </p:nvSpPr>
        <p:spPr>
          <a:xfrm>
            <a:off x="7734300" y="18192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âœ“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63CB04D-953F-459B-ADA9-5D831C27B4EF}"/>
              </a:ext>
            </a:extLst>
          </p:cNvPr>
          <p:cNvSpPr>
            <a:spLocks noGrp="1"/>
          </p:cNvSpPr>
          <p:nvPr/>
        </p:nvSpPr>
        <p:spPr>
          <a:xfrm>
            <a:off x="8210550" y="1771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AF0F8"/>
                </a:solidFill>
              </a:defRPr>
            </a:pPr>
            <a:r>
              <a:rPr sz="1500">
                <a:solidFill>
                  <a:srgbClr val="EAF0F8"/>
                </a:solidFill>
              </a:rPr>
              <a:t>Login o registro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E1A643B-A7ED-48F4-9E1B-28283AFEF212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361950" cy="3619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16253F-3570-42D7-AB7A-ECCBB2BBA123}"/>
              </a:ext>
            </a:extLst>
          </p:cNvPr>
          <p:cNvSpPr>
            <a:spLocks noGrp="1"/>
          </p:cNvSpPr>
          <p:nvPr/>
        </p:nvSpPr>
        <p:spPr>
          <a:xfrm>
            <a:off x="7734300" y="25812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âœ“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292F5A1-0EAB-4EAA-86E8-C139DC3624AA}"/>
              </a:ext>
            </a:extLst>
          </p:cNvPr>
          <p:cNvSpPr>
            <a:spLocks noGrp="1"/>
          </p:cNvSpPr>
          <p:nvPr/>
        </p:nvSpPr>
        <p:spPr>
          <a:xfrm>
            <a:off x="8210550" y="2533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AF0F8"/>
                </a:solidFill>
              </a:defRPr>
            </a:pPr>
            <a:r>
              <a:rPr sz="1500">
                <a:solidFill>
                  <a:srgbClr val="EAF0F8"/>
                </a:solidFill>
              </a:rPr>
              <a:t>Flujo principal completo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240AA8C-9D7A-4AD2-8F3A-FA2B347D74DC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61950" cy="3619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6C7971B-EC7F-4EB9-B56E-5A9B056E7761}"/>
              </a:ext>
            </a:extLst>
          </p:cNvPr>
          <p:cNvSpPr>
            <a:spLocks noGrp="1"/>
          </p:cNvSpPr>
          <p:nvPr/>
        </p:nvSpPr>
        <p:spPr>
          <a:xfrm>
            <a:off x="7734300" y="33432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âœ“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4B5F8E9-ECBD-43EA-8383-70992B719D93}"/>
              </a:ext>
            </a:extLst>
          </p:cNvPr>
          <p:cNvSpPr>
            <a:spLocks noGrp="1"/>
          </p:cNvSpPr>
          <p:nvPr/>
        </p:nvSpPr>
        <p:spPr>
          <a:xfrm>
            <a:off x="8210550" y="3295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AF0F8"/>
                </a:solidFill>
              </a:defRPr>
            </a:pPr>
            <a:r>
              <a:rPr sz="1500">
                <a:solidFill>
                  <a:srgbClr val="EAF0F8"/>
                </a:solidFill>
              </a:rPr>
              <a:t>IA con datos reales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9C24AC5-7411-46B7-9651-FFFC7C015EC1}"/>
              </a:ext>
            </a:extLst>
          </p:cNvPr>
          <p:cNvSpPr>
            <a:spLocks noGrp="1"/>
          </p:cNvSpPr>
          <p:nvPr/>
        </p:nvSpPr>
        <p:spPr>
          <a:xfrm>
            <a:off x="7734300" y="4038600"/>
            <a:ext cx="361950" cy="3619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9C69E01-9AB5-4E17-B04F-2D484D6436F2}"/>
              </a:ext>
            </a:extLst>
          </p:cNvPr>
          <p:cNvSpPr>
            <a:spLocks noGrp="1"/>
          </p:cNvSpPr>
          <p:nvPr/>
        </p:nvSpPr>
        <p:spPr>
          <a:xfrm>
            <a:off x="7734300" y="41052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âœ“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F5EEB41-B255-46C9-8094-A6C03F6D1B82}"/>
              </a:ext>
            </a:extLst>
          </p:cNvPr>
          <p:cNvSpPr>
            <a:spLocks noGrp="1"/>
          </p:cNvSpPr>
          <p:nvPr/>
        </p:nvSpPr>
        <p:spPr>
          <a:xfrm>
            <a:off x="8210550" y="4057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AF0F8"/>
                </a:solidFill>
              </a:defRPr>
            </a:pPr>
            <a:r>
              <a:rPr sz="1500">
                <a:solidFill>
                  <a:srgbClr val="EAF0F8"/>
                </a:solidFill>
              </a:rPr>
              <a:t>Estado de carga o error visible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7FBE526-C1F8-400D-891B-874DACCD9038}"/>
              </a:ext>
            </a:extLst>
          </p:cNvPr>
          <p:cNvSpPr>
            <a:spLocks noGrp="1"/>
          </p:cNvSpPr>
          <p:nvPr/>
        </p:nvSpPr>
        <p:spPr>
          <a:xfrm>
            <a:off x="7524750" y="5429250"/>
            <a:ext cx="3905250" cy="666750"/>
          </a:xfrm>
          <a:prstGeom prst="roundRect">
            <a:avLst>
              <a:gd name="adj" fmla="val 11429"/>
            </a:avLst>
          </a:prstGeom>
          <a:solidFill>
            <a:srgbClr val="251D57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5720BF9-648D-436C-81C9-B9475D75D40E}"/>
              </a:ext>
            </a:extLst>
          </p:cNvPr>
          <p:cNvSpPr>
            <a:spLocks noGrp="1"/>
          </p:cNvSpPr>
          <p:nvPr/>
        </p:nvSpPr>
        <p:spPr>
          <a:xfrm>
            <a:off x="7772400" y="56007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8ECFF"/>
                </a:solidFill>
              </a:defRPr>
            </a:pPr>
            <a:r>
              <a:rPr sz="1275">
                <a:solidFill>
                  <a:srgbClr val="F8ECFF"/>
                </a:solidFill>
              </a:rPr>
              <a:t>Si algo falla: calma. Mostrar video de respaldo y explicar quÃ© estaba cargando.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B25FBB1-C4A0-4336-912E-C1AB80D2B6AE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9C3D8"/>
                </a:solidFill>
              </a:defRPr>
            </a:pPr>
            <a:r>
              <a:rPr sz="975" b="1">
                <a:solidFill>
                  <a:srgbClr val="B9C3D8"/>
                </a:solidFill>
              </a:rPr>
              <a:t>AuthCares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F45B37B-F5C0-4214-A6D7-0DC10BFF7360}"/>
              </a:ext>
            </a:extLst>
          </p:cNvPr>
          <p:cNvSpPr>
            <a:spLocks noGrp="1"/>
          </p:cNvSpPr>
          <p:nvPr/>
        </p:nvSpPr>
        <p:spPr>
          <a:xfrm>
            <a:off x="5753100" y="6477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8591AA"/>
                </a:solidFill>
              </a:defRPr>
            </a:pPr>
            <a:r>
              <a:rPr sz="975">
                <a:solidFill>
                  <a:srgbClr val="8591AA"/>
                </a:solidFill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21105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61651776-7FC8-46AC-8D92-4AAD91015A3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A5568"/>
                </a:solidFill>
              </a:defRPr>
            </a:pPr>
            <a:r>
              <a:rPr sz="975" b="1">
                <a:solidFill>
                  <a:srgbClr val="4A5568"/>
                </a:solidFill>
              </a:rPr>
              <a:t>03 / IA EN ACCION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3D12F8E-CF8F-4DC6-9B36-CC52010BD888}"/>
              </a:ext>
            </a:extLst>
          </p:cNvPr>
          <p:cNvSpPr>
            <a:spLocks noGrp="1"/>
          </p:cNvSpPr>
          <p:nvPr/>
        </p:nvSpPr>
        <p:spPr>
          <a:xfrm>
            <a:off x="10363200" y="171450"/>
            <a:ext cx="1181100" cy="438150"/>
          </a:xfrm>
          <a:prstGeom prst="roundRect">
            <a:avLst>
              <a:gd name="adj" fmla="val 17391"/>
            </a:avLst>
          </a:prstGeom>
          <a:solidFill>
            <a:srgbClr val="F4B942"/>
          </a:solidFill>
          <a:ln w="9525">
            <a:solidFill>
              <a:srgbClr val="E9A92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08C7E9C-AE5F-4A91-A940-E98DB44EFF4D}"/>
              </a:ext>
            </a:extLst>
          </p:cNvPr>
          <p:cNvSpPr>
            <a:spLocks noGrp="1"/>
          </p:cNvSpPr>
          <p:nvPr/>
        </p:nvSpPr>
        <p:spPr>
          <a:xfrm>
            <a:off x="10591800" y="2857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D2410"/>
                </a:solidFill>
              </a:defRPr>
            </a:pPr>
            <a:r>
              <a:rPr sz="1275" b="1">
                <a:solidFill>
                  <a:srgbClr val="2D2410"/>
                </a:solidFill>
              </a:rPr>
              <a:t>~1 min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B5AFA6-B1AB-4D7B-B4EC-09BB356D1CEB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7202E"/>
                </a:solidFill>
              </a:defRPr>
            </a:pPr>
            <a:r>
              <a:rPr sz="3750" b="1">
                <a:solidFill>
                  <a:srgbClr val="17202E"/>
                </a:solidFill>
              </a:rPr>
              <a:t>Â¿QuÃ© hace la IA por el usuario?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C03E2AC-54F7-4875-8CC5-56B433DED9AA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4953000" cy="2990850"/>
          </a:xfrm>
          <a:prstGeom prst="roundRect">
            <a:avLst>
              <a:gd name="adj" fmla="val 3822"/>
            </a:avLst>
          </a:prstGeom>
          <a:solidFill>
            <a:srgbClr val="FFF1F2"/>
          </a:solidFill>
          <a:ln w="9525">
            <a:solidFill>
              <a:srgbClr val="F2C5C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78BFA42-4FA2-412D-9112-2190FEE889A6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8A2D3B"/>
                </a:solidFill>
              </a:defRPr>
            </a:pPr>
            <a:r>
              <a:rPr sz="1875" b="1">
                <a:solidFill>
                  <a:srgbClr val="8A2D3B"/>
                </a:solidFill>
              </a:rPr>
              <a:t>SIN la IA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1695EDF-B264-486B-AD2B-653F8B037DFD}"/>
              </a:ext>
            </a:extLst>
          </p:cNvPr>
          <p:cNvSpPr>
            <a:spLocks noGrp="1"/>
          </p:cNvSpPr>
          <p:nvPr/>
        </p:nvSpPr>
        <p:spPr>
          <a:xfrm>
            <a:off x="876300" y="2790825"/>
            <a:ext cx="95250" cy="952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E5E0E5-EF23-4FA3-8072-9C98A7AF2328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5A2B33"/>
                </a:solidFill>
              </a:defRPr>
            </a:pPr>
            <a:r>
              <a:rPr sz="1575">
                <a:solidFill>
                  <a:srgbClr val="5A2B33"/>
                </a:solidFill>
              </a:rPr>
              <a:t>El cuidador revisa datos sueltos.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0D8C470-89F4-4593-9D14-C3F45E16A93B}"/>
              </a:ext>
            </a:extLst>
          </p:cNvPr>
          <p:cNvSpPr>
            <a:spLocks noGrp="1"/>
          </p:cNvSpPr>
          <p:nvPr/>
        </p:nvSpPr>
        <p:spPr>
          <a:xfrm>
            <a:off x="876300" y="3286125"/>
            <a:ext cx="95250" cy="952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7B32F1E-4986-4ECF-99CD-13AC6C5F6321}"/>
              </a:ext>
            </a:extLst>
          </p:cNvPr>
          <p:cNvSpPr>
            <a:spLocks noGrp="1"/>
          </p:cNvSpPr>
          <p:nvPr/>
        </p:nvSpPr>
        <p:spPr>
          <a:xfrm>
            <a:off x="1085850" y="32194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5A2B33"/>
                </a:solidFill>
              </a:defRPr>
            </a:pPr>
            <a:r>
              <a:rPr sz="1575">
                <a:solidFill>
                  <a:srgbClr val="5A2B33"/>
                </a:solidFill>
              </a:rPr>
              <a:t>Tiene que interpretar todo solo.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28B31F6-826B-4DA7-8F41-5968B365DA9F}"/>
              </a:ext>
            </a:extLst>
          </p:cNvPr>
          <p:cNvSpPr>
            <a:spLocks noGrp="1"/>
          </p:cNvSpPr>
          <p:nvPr/>
        </p:nvSpPr>
        <p:spPr>
          <a:xfrm>
            <a:off x="876300" y="3781425"/>
            <a:ext cx="95250" cy="952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661DB25-2CA1-4284-8339-7468D948C314}"/>
              </a:ext>
            </a:extLst>
          </p:cNvPr>
          <p:cNvSpPr>
            <a:spLocks noGrp="1"/>
          </p:cNvSpPr>
          <p:nvPr/>
        </p:nvSpPr>
        <p:spPr>
          <a:xfrm>
            <a:off x="1085850" y="37147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5A2B33"/>
                </a:solidFill>
              </a:defRPr>
            </a:pPr>
            <a:r>
              <a:rPr sz="1575">
                <a:solidFill>
                  <a:srgbClr val="5A2B33"/>
                </a:solidFill>
              </a:rPr>
              <a:t>Puede tardar en decidir quÃ© hacer.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AA5DB9D-087E-43B9-AEEE-E468BCA2E4BB}"/>
              </a:ext>
            </a:extLst>
          </p:cNvPr>
          <p:cNvSpPr>
            <a:spLocks noGrp="1"/>
          </p:cNvSpPr>
          <p:nvPr/>
        </p:nvSpPr>
        <p:spPr>
          <a:xfrm>
            <a:off x="5753100" y="3105150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50" b="1">
                <a:solidFill>
                  <a:srgbClr val="7C3AED"/>
                </a:solidFill>
              </a:defRPr>
            </a:pPr>
            <a:r>
              <a:rPr sz="3450" b="1">
                <a:solidFill>
                  <a:srgbClr val="7C3AED"/>
                </a:solidFill>
              </a:rPr>
              <a:t>â†’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8F44B03-8157-43E9-A564-679955123476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4953000" cy="2990850"/>
          </a:xfrm>
          <a:prstGeom prst="roundRect">
            <a:avLst>
              <a:gd name="adj" fmla="val 3822"/>
            </a:avLst>
          </a:prstGeom>
          <a:solidFill>
            <a:srgbClr val="ECFDF3"/>
          </a:solidFill>
          <a:ln w="9525">
            <a:solidFill>
              <a:srgbClr val="B7E4C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D3ADA4-4AF3-442B-BFE5-FFBB66A39A5C}"/>
              </a:ext>
            </a:extLst>
          </p:cNvPr>
          <p:cNvSpPr>
            <a:spLocks noGrp="1"/>
          </p:cNvSpPr>
          <p:nvPr/>
        </p:nvSpPr>
        <p:spPr>
          <a:xfrm>
            <a:off x="7029450" y="2095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06B50"/>
                </a:solidFill>
              </a:defRPr>
            </a:pPr>
            <a:r>
              <a:rPr sz="1875" b="1">
                <a:solidFill>
                  <a:srgbClr val="206B50"/>
                </a:solidFill>
              </a:rPr>
              <a:t>CON la IA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660A9B6-FAB9-450E-A674-89F82916C11A}"/>
              </a:ext>
            </a:extLst>
          </p:cNvPr>
          <p:cNvSpPr>
            <a:spLocks noGrp="1"/>
          </p:cNvSpPr>
          <p:nvPr/>
        </p:nvSpPr>
        <p:spPr>
          <a:xfrm>
            <a:off x="7029450" y="2790825"/>
            <a:ext cx="95250" cy="952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AB1CDB-88FF-4A34-A249-4E3FB4BD2D7C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45445"/>
                </a:solidFill>
              </a:defRPr>
            </a:pPr>
            <a:r>
              <a:rPr sz="1575">
                <a:solidFill>
                  <a:srgbClr val="245445"/>
                </a:solidFill>
              </a:rPr>
              <a:t>Resume lo importante.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27F1956-2A01-47C5-B440-618A334AE79C}"/>
              </a:ext>
            </a:extLst>
          </p:cNvPr>
          <p:cNvSpPr>
            <a:spLocks noGrp="1"/>
          </p:cNvSpPr>
          <p:nvPr/>
        </p:nvSpPr>
        <p:spPr>
          <a:xfrm>
            <a:off x="7029450" y="3286125"/>
            <a:ext cx="95250" cy="952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FA2D850-AA92-4E37-899A-681F302591FF}"/>
              </a:ext>
            </a:extLst>
          </p:cNvPr>
          <p:cNvSpPr>
            <a:spLocks noGrp="1"/>
          </p:cNvSpPr>
          <p:nvPr/>
        </p:nvSpPr>
        <p:spPr>
          <a:xfrm>
            <a:off x="7239000" y="32194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45445"/>
                </a:solidFill>
              </a:defRPr>
            </a:pPr>
            <a:r>
              <a:rPr sz="1575">
                <a:solidFill>
                  <a:srgbClr val="245445"/>
                </a:solidFill>
              </a:rPr>
              <a:t>Sugiere pasos de calma y revisiÃ³n.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5589433-59B5-40DD-A4B3-E2EB568043F1}"/>
              </a:ext>
            </a:extLst>
          </p:cNvPr>
          <p:cNvSpPr>
            <a:spLocks noGrp="1"/>
          </p:cNvSpPr>
          <p:nvPr/>
        </p:nvSpPr>
        <p:spPr>
          <a:xfrm>
            <a:off x="7029450" y="3781425"/>
            <a:ext cx="95250" cy="952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36EEDDF-2D59-4433-8B2D-6E967E9694B8}"/>
              </a:ext>
            </a:extLst>
          </p:cNvPr>
          <p:cNvSpPr>
            <a:spLocks noGrp="1"/>
          </p:cNvSpPr>
          <p:nvPr/>
        </p:nvSpPr>
        <p:spPr>
          <a:xfrm>
            <a:off x="7239000" y="37147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45445"/>
                </a:solidFill>
              </a:defRPr>
            </a:pPr>
            <a:r>
              <a:rPr sz="1575">
                <a:solidFill>
                  <a:srgbClr val="245445"/>
                </a:solidFill>
              </a:rPr>
              <a:t>Da orientaciÃ³n sin reemplazar al profesional.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54A596F-BE5C-4EF8-89FD-AA19B6ABF811}"/>
              </a:ext>
            </a:extLst>
          </p:cNvPr>
          <p:cNvSpPr>
            <a:spLocks noGrp="1"/>
          </p:cNvSpPr>
          <p:nvPr/>
        </p:nvSpPr>
        <p:spPr>
          <a:xfrm>
            <a:off x="4095750" y="5314950"/>
            <a:ext cx="4000500" cy="552450"/>
          </a:xfrm>
          <a:prstGeom prst="roundRect">
            <a:avLst>
              <a:gd name="adj" fmla="val 13793"/>
            </a:avLst>
          </a:prstGeom>
          <a:solidFill>
            <a:srgbClr val="7C3AED"/>
          </a:solidFill>
          <a:ln w="9525">
            <a:solidFill>
              <a:srgbClr val="9F7A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0F65593-0985-434B-9575-B170AB304BF2}"/>
              </a:ext>
            </a:extLst>
          </p:cNvPr>
          <p:cNvSpPr>
            <a:spLocks noGrp="1"/>
          </p:cNvSpPr>
          <p:nvPr/>
        </p:nvSpPr>
        <p:spPr>
          <a:xfrm>
            <a:off x="4362450" y="5486400"/>
            <a:ext cx="347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TecnologÃ­a usada: Gemini API + Firebase</a:t>
            </a:r>
          </a:p>
        </p:txBody>
      </p:sp>
      <p:pic>
        <p:nvPicPr>
          <p:cNvPr id="50" name="Imagen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933450"/>
            <a:ext cx="857250" cy="857250"/>
          </a:xfrm>
          <a:prstGeom prst="roundRect">
            <a:avLst>
              <a:gd name="adj" fmla="val 8889"/>
            </a:avLst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1E11954D-C23A-4A51-8457-0E32F800DADB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B8497"/>
                </a:solidFill>
              </a:defRPr>
            </a:pPr>
            <a:r>
              <a:rPr sz="975" b="1">
                <a:solidFill>
                  <a:srgbClr val="7B8497"/>
                </a:solidFill>
              </a:rPr>
              <a:t>AuthCares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3B9CD16-2CDF-48FF-80B5-C784BBA4280B}"/>
              </a:ext>
            </a:extLst>
          </p:cNvPr>
          <p:cNvSpPr>
            <a:spLocks noGrp="1"/>
          </p:cNvSpPr>
          <p:nvPr/>
        </p:nvSpPr>
        <p:spPr>
          <a:xfrm>
            <a:off x="5753100" y="6477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933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FB023806-8B7A-496E-8734-A47B2A8E512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A5568"/>
                </a:solidFill>
              </a:defRPr>
            </a:pPr>
            <a:r>
              <a:rPr sz="975" b="1">
                <a:solidFill>
                  <a:srgbClr val="4A5568"/>
                </a:solidFill>
              </a:rPr>
              <a:t>04 / APRENDIZAJES DEL EQUIPO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B75AD84-C06C-4512-9FCF-A0861AD24392}"/>
              </a:ext>
            </a:extLst>
          </p:cNvPr>
          <p:cNvSpPr>
            <a:spLocks noGrp="1"/>
          </p:cNvSpPr>
          <p:nvPr/>
        </p:nvSpPr>
        <p:spPr>
          <a:xfrm>
            <a:off x="10363200" y="171450"/>
            <a:ext cx="1181100" cy="438150"/>
          </a:xfrm>
          <a:prstGeom prst="roundRect">
            <a:avLst>
              <a:gd name="adj" fmla="val 17391"/>
            </a:avLst>
          </a:prstGeom>
          <a:solidFill>
            <a:srgbClr val="F4B942"/>
          </a:solidFill>
          <a:ln w="9525">
            <a:solidFill>
              <a:srgbClr val="E9A92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16FBB5-56BE-49C4-A95A-EF1192532F74}"/>
              </a:ext>
            </a:extLst>
          </p:cNvPr>
          <p:cNvSpPr>
            <a:spLocks noGrp="1"/>
          </p:cNvSpPr>
          <p:nvPr/>
        </p:nvSpPr>
        <p:spPr>
          <a:xfrm>
            <a:off x="10591800" y="2857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D2410"/>
                </a:solidFill>
              </a:defRPr>
            </a:pPr>
            <a:r>
              <a:rPr sz="1275" b="1">
                <a:solidFill>
                  <a:srgbClr val="2D2410"/>
                </a:solidFill>
              </a:rPr>
              <a:t>~1 min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2ABE31-476B-4587-837E-67006CFABFB8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7202E"/>
                </a:solidFill>
              </a:defRPr>
            </a:pPr>
            <a:r>
              <a:rPr sz="3750" b="1" dirty="0" err="1">
                <a:solidFill>
                  <a:srgbClr val="17202E"/>
                </a:solidFill>
              </a:rPr>
              <a:t>Â¿QuÃ</a:t>
            </a:r>
            <a:r>
              <a:rPr sz="3750" b="1">
                <a:solidFill>
                  <a:srgbClr val="17202E"/>
                </a:solidFill>
              </a:rPr>
              <a:t>© se </a:t>
            </a:r>
            <a:r>
              <a:rPr sz="3750" b="1" dirty="0" err="1">
                <a:solidFill>
                  <a:srgbClr val="17202E"/>
                </a:solidFill>
              </a:rPr>
              <a:t>llevaron</a:t>
            </a:r>
            <a:r>
              <a:rPr sz="3750" b="1" dirty="0">
                <a:solidFill>
                  <a:srgbClr val="17202E"/>
                </a:solidFill>
              </a:rPr>
              <a:t> del </a:t>
            </a:r>
            <a:r>
              <a:rPr sz="3750" b="1" dirty="0" err="1">
                <a:solidFill>
                  <a:srgbClr val="17202E"/>
                </a:solidFill>
              </a:rPr>
              <a:t>proyecto</a:t>
            </a:r>
            <a:r>
              <a:rPr sz="3750" b="1" dirty="0">
                <a:solidFill>
                  <a:srgbClr val="17202E"/>
                </a:solidFill>
              </a:rPr>
              <a:t>?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4DFAC65-4C46-45F7-8A76-DE24438BD67D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8450F41-DEDF-47AC-A97E-CA8F64D2BF34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514350" cy="514350"/>
          </a:xfrm>
          <a:prstGeom prst="ellipse">
            <a:avLst/>
          </a:prstGeom>
          <a:solidFill>
            <a:srgbClr val="4F7BFF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84AC6D3-E776-4432-A793-D96F23681782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1921F11-0CF7-46DD-9B8A-AC884C72EDFC}"/>
              </a:ext>
            </a:extLst>
          </p:cNvPr>
          <p:cNvSpPr>
            <a:spLocks noGrp="1"/>
          </p:cNvSpPr>
          <p:nvPr/>
        </p:nvSpPr>
        <p:spPr>
          <a:xfrm>
            <a:off x="1466850" y="2038350"/>
            <a:ext cx="992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E"/>
                </a:solidFill>
              </a:defRPr>
            </a:pPr>
            <a:r>
              <a:rPr sz="1875" b="1">
                <a:solidFill>
                  <a:srgbClr val="17202E"/>
                </a:solidFill>
              </a:rPr>
              <a:t>El mayor reto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22ED7AE-9EB9-438C-9856-93D69E1A6F25}"/>
              </a:ext>
            </a:extLst>
          </p:cNvPr>
          <p:cNvSpPr>
            <a:spLocks noGrp="1"/>
          </p:cNvSpPr>
          <p:nvPr/>
        </p:nvSpPr>
        <p:spPr>
          <a:xfrm>
            <a:off x="1466850" y="2400300"/>
            <a:ext cx="992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Unir datos del reloj, Firebase y pantallas de la app sin perder claridad para el usuario.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D801985-CB2C-4562-A8ED-4740CB96EAEA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110871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9403C5F-FB3E-4224-80BC-5931748E2395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514350" cy="514350"/>
          </a:xfrm>
          <a:prstGeom prst="ellipse">
            <a:avLst/>
          </a:prstGeom>
          <a:solidFill>
            <a:srgbClr val="25B99A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61D53C-FB2E-471D-817A-131B247F0F46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AF6365-D299-4D14-BC70-719A2881A342}"/>
              </a:ext>
            </a:extLst>
          </p:cNvPr>
          <p:cNvSpPr>
            <a:spLocks noGrp="1"/>
          </p:cNvSpPr>
          <p:nvPr/>
        </p:nvSpPr>
        <p:spPr>
          <a:xfrm>
            <a:off x="1466850" y="3333750"/>
            <a:ext cx="992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E"/>
                </a:solidFill>
              </a:defRPr>
            </a:pPr>
            <a:r>
              <a:rPr sz="1875" b="1">
                <a:solidFill>
                  <a:srgbClr val="17202E"/>
                </a:solidFill>
              </a:rPr>
              <a:t>CÃ³mo lo resolvimos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459310-5800-4167-B6D6-2AD3E29D91CC}"/>
              </a:ext>
            </a:extLst>
          </p:cNvPr>
          <p:cNvSpPr>
            <a:spLocks noGrp="1"/>
          </p:cNvSpPr>
          <p:nvPr/>
        </p:nvSpPr>
        <p:spPr>
          <a:xfrm>
            <a:off x="1466850" y="3695700"/>
            <a:ext cx="992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Probamos el flujo por partes: primero datos, luego monitoreo, despuÃ©s estadÃ­sticas, alertas e IA.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B4A3892-DBD1-42F6-95EE-8F2D3DE190C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10871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01A8582-20B7-4E1B-8C35-F36EA3AAB8D2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514350" cy="514350"/>
          </a:xfrm>
          <a:prstGeom prst="ellipse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0954B2B-1C88-464D-A843-3DE74B9D960F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F7F2EE3-BCA1-42FB-9E1F-60D022103971}"/>
              </a:ext>
            </a:extLst>
          </p:cNvPr>
          <p:cNvSpPr>
            <a:spLocks noGrp="1"/>
          </p:cNvSpPr>
          <p:nvPr/>
        </p:nvSpPr>
        <p:spPr>
          <a:xfrm>
            <a:off x="1466850" y="4629150"/>
            <a:ext cx="992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E"/>
                </a:solidFill>
              </a:defRPr>
            </a:pPr>
            <a:r>
              <a:rPr sz="1875" b="1">
                <a:solidFill>
                  <a:srgbClr val="17202E"/>
                </a:solidFill>
              </a:rPr>
              <a:t>Lo harÃ­amos diferente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5589845-65DC-46C7-A59A-5CCCCDE9A4B2}"/>
              </a:ext>
            </a:extLst>
          </p:cNvPr>
          <p:cNvSpPr>
            <a:spLocks noGrp="1"/>
          </p:cNvSpPr>
          <p:nvPr/>
        </p:nvSpPr>
        <p:spPr>
          <a:xfrm>
            <a:off x="1466850" y="4991100"/>
            <a:ext cx="992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Preparar antes el video de demo, completar links y cerrar nombres del equipo para que todo se vea listo.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58858F4-13A5-4E79-8B82-A87C23B9F727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7B8497"/>
                </a:solidFill>
              </a:defRPr>
            </a:pPr>
            <a:r>
              <a:rPr sz="975" b="1">
                <a:solidFill>
                  <a:srgbClr val="7B8497"/>
                </a:solidFill>
              </a:rPr>
              <a:t>AuthCares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A4F2C1C-E2D7-4734-B930-0F56C413E571}"/>
              </a:ext>
            </a:extLst>
          </p:cNvPr>
          <p:cNvSpPr>
            <a:spLocks noGrp="1"/>
          </p:cNvSpPr>
          <p:nvPr/>
        </p:nvSpPr>
        <p:spPr>
          <a:xfrm>
            <a:off x="5753100" y="6477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26068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ipse 13">
            <a:extLst>
              <a:ext uri="{FF2B5EF4-FFF2-40B4-BE49-F238E27FC236}">
                <a16:creationId xmlns:a16="http://schemas.microsoft.com/office/drawing/2014/main" id="{2E893120-6695-45F7-A354-AEE6EEAC9B0D}"/>
              </a:ext>
            </a:extLst>
          </p:cNvPr>
          <p:cNvSpPr>
            <a:spLocks noGrp="1"/>
          </p:cNvSpPr>
          <p:nvPr/>
        </p:nvSpPr>
        <p:spPr>
          <a:xfrm>
            <a:off x="9353550" y="-1238250"/>
            <a:ext cx="3905250" cy="3905250"/>
          </a:xfrm>
          <a:prstGeom prst="ellipse">
            <a:avLst/>
          </a:prstGeom>
          <a:solidFill>
            <a:srgbClr val="2B2C50"/>
          </a:solidFill>
          <a:ln w="0">
            <a:noFill/>
            <a:prstDash val="solid"/>
          </a:ln>
        </p:spPr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B988BE7-DF93-4F41-AEF0-B14644B7CBD6}"/>
              </a:ext>
            </a:extLst>
          </p:cNvPr>
          <p:cNvSpPr>
            <a:spLocks noGrp="1"/>
          </p:cNvSpPr>
          <p:nvPr/>
        </p:nvSpPr>
        <p:spPr>
          <a:xfrm>
            <a:off x="-1524000" y="5219700"/>
            <a:ext cx="3429000" cy="3429000"/>
          </a:xfrm>
          <a:prstGeom prst="ellipse">
            <a:avLst/>
          </a:prstGeom>
          <a:solidFill>
            <a:srgbClr val="2B2456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05B008-867A-47F7-A14D-B25F5DAF556F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514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Gracias.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0C7490A-30C2-48E0-9735-1A193C5A171D}"/>
              </a:ext>
            </a:extLst>
          </p:cNvPr>
          <p:cNvSpPr>
            <a:spLocks noGrp="1"/>
          </p:cNvSpPr>
          <p:nvPr/>
        </p:nvSpPr>
        <p:spPr>
          <a:xfrm>
            <a:off x="590550" y="23241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i="1">
                <a:solidFill>
                  <a:srgbClr val="B99DFF"/>
                </a:solidFill>
              </a:defRPr>
            </a:pPr>
            <a:r>
              <a:rPr sz="2550" i="1">
                <a:solidFill>
                  <a:srgbClr val="B99DFF"/>
                </a:solidFill>
              </a:rPr>
              <a:t>Â¿Preguntas?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80F17ED-638E-415B-A101-E8356044F0B0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6477000" cy="2076450"/>
          </a:xfrm>
          <a:prstGeom prst="roundRect">
            <a:avLst>
              <a:gd name="adj" fmla="val 5505"/>
            </a:avLst>
          </a:prstGeom>
          <a:solidFill>
            <a:srgbClr val="222B3E"/>
          </a:solidFill>
          <a:ln w="9525">
            <a:solidFill>
              <a:srgbClr val="48546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25CA5F-E13C-495C-A6BE-BEBC8EC34A41}"/>
              </a:ext>
            </a:extLst>
          </p:cNvPr>
          <p:cNvSpPr>
            <a:spLocks noGrp="1"/>
          </p:cNvSpPr>
          <p:nvPr/>
        </p:nvSpPr>
        <p:spPr>
          <a:xfrm>
            <a:off x="895350" y="379095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E8EEF8"/>
                </a:solidFill>
              </a:defRPr>
            </a:pPr>
            <a:r>
              <a:rPr sz="1650">
                <a:solidFill>
                  <a:srgbClr val="E8EEF8"/>
                </a:solidFill>
              </a:rPr>
              <a:t>GitHub: github.com/KvrlvP/AuthCares2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7F12543-93C2-426A-B431-41F4929AD10A}"/>
              </a:ext>
            </a:extLst>
          </p:cNvPr>
          <p:cNvSpPr>
            <a:spLocks noGrp="1"/>
          </p:cNvSpPr>
          <p:nvPr/>
        </p:nvSpPr>
        <p:spPr>
          <a:xfrm>
            <a:off x="895350" y="4267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E8EEF8"/>
                </a:solidFill>
              </a:defRPr>
            </a:pPr>
            <a:r>
              <a:rPr sz="1650">
                <a:solidFill>
                  <a:srgbClr val="E8EEF8"/>
                </a:solidFill>
              </a:rPr>
              <a:t>Demo: [pegar link del video]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555D4D-8476-4BD0-BE30-5545530CA18B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B8C2D8"/>
                </a:solidFill>
              </a:defRPr>
            </a:pPr>
            <a:r>
              <a:rPr sz="1425">
                <a:solidFill>
                  <a:srgbClr val="B8C2D8"/>
                </a:solidFill>
              </a:rPr>
              <a:t>Equipo: Karla Choque  Â·  [Integrante 2]  Â·  [Integrante 3]  Â·  [Integrante 4]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85D377C-1742-4DD8-894B-EA93B3732E90}"/>
              </a:ext>
            </a:extLst>
          </p:cNvPr>
          <p:cNvSpPr>
            <a:spLocks noGrp="1"/>
          </p:cNvSpPr>
          <p:nvPr/>
        </p:nvSpPr>
        <p:spPr>
          <a:xfrm>
            <a:off x="8667750" y="2857500"/>
            <a:ext cx="2305050" cy="2305050"/>
          </a:xfrm>
          <a:prstGeom prst="roundRect">
            <a:avLst>
              <a:gd name="adj" fmla="val 4959"/>
            </a:avLst>
          </a:prstGeom>
          <a:solidFill>
            <a:srgbClr val="222B3E"/>
          </a:solidFill>
          <a:ln w="9525">
            <a:solidFill>
              <a:srgbClr val="697386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7B45460-FAC7-4D7C-BCF2-E1B6198A9B59}"/>
              </a:ext>
            </a:extLst>
          </p:cNvPr>
          <p:cNvSpPr>
            <a:spLocks noGrp="1"/>
          </p:cNvSpPr>
          <p:nvPr/>
        </p:nvSpPr>
        <p:spPr>
          <a:xfrm>
            <a:off x="9048750" y="382905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DDE3F0"/>
                </a:solidFill>
              </a:defRPr>
            </a:pPr>
            <a:r>
              <a:rPr sz="1500">
                <a:solidFill>
                  <a:srgbClr val="DDE3F0"/>
                </a:solidFill>
              </a:rPr>
              <a:t>QR GitHub o video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3877DA9-4533-41D2-88F2-27B9EFDE20A3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AuthCares convierte datos en cuidado.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4811AD9-8BBC-4C48-B00F-8F5BCA4DF9E4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9C3D8"/>
                </a:solidFill>
              </a:defRPr>
            </a:pPr>
            <a:r>
              <a:rPr sz="975" b="1">
                <a:solidFill>
                  <a:srgbClr val="B9C3D8"/>
                </a:solidFill>
              </a:rPr>
              <a:t>AuthCares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F959C0C-5D20-4E09-B730-8BB1C7F71B4A}"/>
              </a:ext>
            </a:extLst>
          </p:cNvPr>
          <p:cNvSpPr>
            <a:spLocks noGrp="1"/>
          </p:cNvSpPr>
          <p:nvPr/>
        </p:nvSpPr>
        <p:spPr>
          <a:xfrm>
            <a:off x="5753100" y="6477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8591AA"/>
                </a:solidFill>
              </a:defRPr>
            </a:pPr>
            <a:r>
              <a:rPr sz="975">
                <a:solidFill>
                  <a:srgbClr val="8591AA"/>
                </a:solidFill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1333862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Office PowerPoint</Application>
  <DocSecurity>0</DocSecurity>
  <PresentationFormat>Panorámica</PresentationFormat>
  <Paragraphs>106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MARCELO CHOQUE MORAN</cp:lastModifiedBy>
  <cp:revision>1</cp:revision>
  <dcterms:created xsi:type="dcterms:W3CDTF">2026-06-30T00:36:44Z</dcterms:created>
  <dcterms:modified xsi:type="dcterms:W3CDTF">2026-06-30T00:38:35Z</dcterms:modified>
</cp:coreProperties>
</file>